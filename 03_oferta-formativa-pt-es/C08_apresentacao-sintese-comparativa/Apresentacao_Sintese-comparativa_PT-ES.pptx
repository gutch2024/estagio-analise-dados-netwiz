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2960" y="1371600"/>
            <a:ext cx="105156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Oferta Formativa do Ensino Superior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Portugal &amp; Espanha — Síntese Comparativa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Tarefa 6 · NetWiz Systems · apoio estratégico ao Instituto Piaget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22960" y="41148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i="0" u="none" strike="noStrike" cap="none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16 140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cursos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566160" y="41148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i="0" u="none" strike="noStrike" cap="none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182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instituições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309360" y="41148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i="0" u="none" strike="noStrike" cap="none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países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Base de dados estruturada e normalizada · fontes oficiais (DGES/A3ES · RUCT/B.O.E.) ·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Panorama global: Portugal vs Espanha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02920" y="1371600"/>
            <a:ext cx="521208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02920" y="1371600"/>
            <a:ext cx="5212080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68680" y="164592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A9D8F"/>
                </a:solidFill>
                <a:latin typeface="Georgia"/>
                <a:ea typeface="Georgia"/>
                <a:cs typeface="Georgia"/>
                <a:sym typeface="Georgia"/>
              </a:rPr>
              <a:t>PORTUGAL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8680" y="228600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5 804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cursos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246120" y="2286000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87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instituições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8680" y="3657600"/>
            <a:ext cx="448056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Tipologia dominante: Mestrado (2 126).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Forte formação curta: CTeSP (893) + Pós-Graduação (1 139).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71% pública · 29% privada.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Concentração: A.M. Lisboa e Norte.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446520" y="1371600"/>
            <a:ext cx="521208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446520" y="1371600"/>
            <a:ext cx="5212080" cy="109728"/>
          </a:xfrm>
          <a:prstGeom prst="rect">
            <a:avLst/>
          </a:prstGeom>
          <a:solidFill>
            <a:srgbClr val="E07A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812280" y="164592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E07A3B"/>
                </a:solidFill>
                <a:latin typeface="Georgia"/>
                <a:ea typeface="Georgia"/>
                <a:cs typeface="Georgia"/>
                <a:sym typeface="Georgia"/>
              </a:rPr>
              <a:t>ESPANHA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812280" y="228600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10 336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cursos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189720" y="2286000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95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instituições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812280" y="3657600"/>
            <a:ext cx="448056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Tipologia dominante: Máster (6 083).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Sem CTeSP universitário; Título Propio (522) faz a ponte.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65% pública · 35% privada.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Concentração: Madrid e Cataluña.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Comparação por tipologia de curso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22960" y="1143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Taxonomia equivalente: Licenciatura↔Grado · Mestrado↔Máster · Pós-Graduação↔Título Propio · CTeSP (só Portugal)</a:t>
            </a:r>
            <a:endParaRPr/>
          </a:p>
        </p:txBody>
      </p:sp>
      <p:pic>
        <p:nvPicPr>
          <p:cNvPr id="117" name="Google Shape;11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828800"/>
            <a:ext cx="7498079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8503920" y="1828800"/>
            <a:ext cx="3108960" cy="4572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8778240" y="2103120"/>
            <a:ext cx="265176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Leitura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2.º ciclo domina nos dois países: Máster/Mestrado é o maior grupo.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Espanha tem mais Máster do que Grado — peso forte da pós-graduação oficial.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Portugal tem oferta curta (CTeSP) que Espanha não replica no formato universitário.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Concentração geográfica da oferta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22960" y="11430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Portugal por região · Espanha por comunidade autónoma — a oferta acumula-se em poucos polos</a:t>
            </a:r>
            <a:endParaRPr/>
          </a:p>
        </p:txBody>
      </p:sp>
      <p:pic>
        <p:nvPicPr>
          <p:cNvPr id="127" name="Google Shape;12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828800"/>
            <a:ext cx="54864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PORTUGAL</a:t>
            </a:r>
            <a:endParaRPr/>
          </a:p>
        </p:txBody>
      </p:sp>
      <p:pic>
        <p:nvPicPr>
          <p:cNvPr id="129" name="Google Shape;129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9360" y="1828800"/>
            <a:ext cx="54864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309360" y="1600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7A3B"/>
                </a:solidFill>
                <a:latin typeface="Calibri"/>
                <a:ea typeface="Calibri"/>
                <a:cs typeface="Calibri"/>
                <a:sym typeface="Calibri"/>
              </a:rPr>
              <a:t>ESPANHA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Áreas científicas: onde está a concorrência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22960" y="11430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Espanha em 5 ramas oficiais (RUCT) · Portugal em áreas CNAEF — em ambos lideram Sociais/Gestão, Saúde e Engenharia</a:t>
            </a:r>
            <a:endParaRPr/>
          </a:p>
        </p:txBody>
      </p:sp>
      <p:pic>
        <p:nvPicPr>
          <p:cNvPr id="138" name="Google Shape;13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828800"/>
            <a:ext cx="557784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640080" y="16276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7A3B"/>
                </a:solidFill>
                <a:latin typeface="Calibri"/>
                <a:ea typeface="Calibri"/>
                <a:cs typeface="Calibri"/>
                <a:sym typeface="Calibri"/>
              </a:rPr>
              <a:t>ESPANHA — 5 grandes ramas</a:t>
            </a:r>
            <a:endParaRPr/>
          </a:p>
        </p:txBody>
      </p:sp>
      <p:pic>
        <p:nvPicPr>
          <p:cNvPr id="140" name="Google Shape;14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0" y="1828800"/>
            <a:ext cx="539496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6400800" y="16276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PORTUGAL — top áreas CNAEF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Natureza das instituições e modalidade</a:t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554480"/>
            <a:ext cx="283464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48640" y="438912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PT · 71% pública</a:t>
            </a:r>
            <a:endParaRPr/>
          </a:p>
        </p:txBody>
      </p:sp>
      <p:pic>
        <p:nvPicPr>
          <p:cNvPr id="150" name="Google Shape;15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0" y="1554480"/>
            <a:ext cx="283464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3566160" y="438912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7A3B"/>
                </a:solidFill>
                <a:latin typeface="Calibri"/>
                <a:ea typeface="Calibri"/>
                <a:cs typeface="Calibri"/>
                <a:sym typeface="Calibri"/>
              </a:rPr>
              <a:t>ES · 65% pública</a:t>
            </a:r>
            <a:endParaRPr/>
          </a:p>
        </p:txBody>
      </p:sp>
      <p:pic>
        <p:nvPicPr>
          <p:cNvPr id="152" name="Google Shape;152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83680" y="1554480"/>
            <a:ext cx="521208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6583680" y="123444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Modalidade de ensino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48640" y="4937760"/>
            <a:ext cx="11247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ensino presencial domina nos dois países (PT 92% · ES 88%), mas o online tem mais peso em Espanha, impulsionado pelas universidades a distância (UNED, UNIR, VIU) e pela pós-graduação.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Metodologia: como os dados foram tratados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822960" y="1417320"/>
            <a:ext cx="109728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1097280" y="1417320"/>
            <a:ext cx="104241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1 · Fontes oficiais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Portugal: DGES/A3ES + sites institucionais. Espanha: RUCT (publicado em B.O.E.) para Grados e Másteres oficiais; catálogos das universidades para os Títulos Propios.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822960" y="2715768"/>
            <a:ext cx="109728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097280" y="2715768"/>
            <a:ext cx="104241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2 · </a:t>
            </a:r>
            <a:r>
              <a:rPr lang="en-US" sz="1700" b="1" i="0" u="none" strike="noStrike" cap="none" dirty="0" err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Recolha</a:t>
            </a:r>
            <a:r>
              <a:rPr lang="en-US" sz="1700" b="1" i="0" u="none" strike="noStrike" cap="none" dirty="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700" b="1" i="0" u="none" strike="noStrike" cap="none" dirty="0" err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validação</a:t>
            </a:r>
            <a:endParaRPr dirty="0"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Conectores</a:t>
            </a:r>
            <a:r>
              <a:rPr lang="en-US" sz="13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complementares</a:t>
            </a:r>
            <a:r>
              <a:rPr lang="en-US" sz="13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Tavily</a:t>
            </a:r>
            <a:r>
              <a:rPr lang="en-US" sz="13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3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conteúdo</a:t>
            </a:r>
            <a:r>
              <a:rPr lang="en-US" sz="13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), Exa (link </a:t>
            </a:r>
            <a:r>
              <a:rPr lang="en-US" sz="13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oficial</a:t>
            </a:r>
            <a:r>
              <a:rPr lang="en-US" sz="13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exato</a:t>
            </a:r>
            <a:r>
              <a:rPr lang="en-US" sz="13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), Claude in Chrome (</a:t>
            </a:r>
            <a:r>
              <a:rPr lang="en-US" sz="13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validação</a:t>
            </a:r>
            <a:r>
              <a:rPr lang="en-US" sz="13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no site), Zapier + Google Drive (</a:t>
            </a:r>
            <a:r>
              <a:rPr lang="en-US" sz="13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fluxo</a:t>
            </a:r>
            <a:r>
              <a:rPr lang="en-US" sz="13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3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versão</a:t>
            </a:r>
            <a:r>
              <a:rPr lang="en-US" sz="13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única</a:t>
            </a:r>
            <a:r>
              <a:rPr lang="en-US" sz="135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dirty="0"/>
          </a:p>
        </p:txBody>
      </p:sp>
      <p:sp>
        <p:nvSpPr>
          <p:cNvPr id="166" name="Google Shape;166;p19"/>
          <p:cNvSpPr/>
          <p:nvPr/>
        </p:nvSpPr>
        <p:spPr>
          <a:xfrm>
            <a:off x="822960" y="4014215"/>
            <a:ext cx="109728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1097280" y="4014215"/>
            <a:ext cx="104241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3 · Campus/Faculdade (ES)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Em Espanha o campus tem denominação própria — o «centro». Descarregou-se a base oficial de centros do RUCT (Excel, 2 137 registos), organizou-se e cruzou-se com cada curso por universidade, cidade e disciplina.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822960" y="5312664"/>
            <a:ext cx="109728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1097280" y="5312664"/>
            <a:ext cx="104241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4 · Normalização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 colunas comparáveis PT↔ES; tipologias e áreas uniformizadas; nomes dos cursos ES na língua original; o que não consta da fonte fica «Não confirmado — rever manualmente» (nunca inventado).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4213D"/>
                </a:solidFill>
                <a:latin typeface="Georgia"/>
                <a:ea typeface="Georgia"/>
                <a:cs typeface="Georgia"/>
                <a:sym typeface="Georgia"/>
              </a:rPr>
              <a:t>O que os dados mostram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640080" y="155448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640080" y="1554480"/>
            <a:ext cx="5394960" cy="914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960119" y="1828800"/>
            <a:ext cx="47548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Mercado de </a:t>
            </a:r>
            <a:r>
              <a:rPr lang="en-US" sz="1700" b="1" i="0" u="none" strike="noStrike" cap="none" dirty="0" err="1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pós-graduação</a:t>
            </a:r>
            <a:r>
              <a:rPr lang="en-US" sz="1700" b="1" i="0" u="none" strike="noStrike" cap="none" dirty="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 é o </a:t>
            </a:r>
            <a:r>
              <a:rPr lang="en-US" sz="1700" b="1" i="0" u="none" strike="noStrike" cap="none" dirty="0" err="1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maior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Máster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Mestrado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é o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grupo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dominante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nos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países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; a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pós-graduação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é o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segmento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volumoso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competitivo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179" name="Google Shape;179;p20"/>
          <p:cNvSpPr/>
          <p:nvPr/>
        </p:nvSpPr>
        <p:spPr>
          <a:xfrm>
            <a:off x="6400800" y="155448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6400800" y="1554480"/>
            <a:ext cx="5394960" cy="914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720840" y="1828800"/>
            <a:ext cx="47548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 err="1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Concentração</a:t>
            </a:r>
            <a:r>
              <a:rPr lang="en-US" sz="1700" b="1" i="0" u="none" strike="noStrike" cap="none" dirty="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 err="1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1700" b="1" i="0" u="none" strike="noStrike" cap="none" dirty="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 err="1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poucos</a:t>
            </a:r>
            <a:r>
              <a:rPr lang="en-US" sz="1700" b="1" i="0" u="none" strike="noStrike" cap="none" dirty="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 polos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PT: A.M. Lisboa + Norte. ES: Madrid + Cataluña (≈43% da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oferta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). Resto do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território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densidade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muito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menor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182" name="Google Shape;182;p20"/>
          <p:cNvSpPr/>
          <p:nvPr/>
        </p:nvSpPr>
        <p:spPr>
          <a:xfrm>
            <a:off x="640080" y="388620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640080" y="3886200"/>
            <a:ext cx="5394960" cy="914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960119" y="4160520"/>
            <a:ext cx="47548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 err="1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Mesmas</a:t>
            </a:r>
            <a:r>
              <a:rPr lang="en-US" sz="1700" b="1" i="0" u="none" strike="noStrike" cap="none" dirty="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 err="1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áreas</a:t>
            </a:r>
            <a:r>
              <a:rPr lang="en-US" sz="1700" b="1" i="0" u="none" strike="noStrike" cap="none" dirty="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 err="1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líderes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Ciências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Sociais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Gestão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Saúde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Engenharia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Informática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concentram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maioria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oferta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e da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concorrência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185" name="Google Shape;185;p20"/>
          <p:cNvSpPr/>
          <p:nvPr/>
        </p:nvSpPr>
        <p:spPr>
          <a:xfrm>
            <a:off x="6400800" y="388620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6400800" y="3886200"/>
            <a:ext cx="5394960" cy="914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720840" y="4160520"/>
            <a:ext cx="47548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Portugal </a:t>
            </a:r>
            <a:r>
              <a:rPr lang="en-US" sz="1700" b="1" i="0" u="none" strike="noStrike" cap="none" dirty="0" err="1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tem</a:t>
            </a:r>
            <a:r>
              <a:rPr lang="en-US" sz="1700" b="1" i="0" u="none" strike="noStrike" cap="none" dirty="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 err="1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oferta</a:t>
            </a:r>
            <a:r>
              <a:rPr lang="en-US" sz="1700" b="1" i="0" u="none" strike="noStrike" cap="none" dirty="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 err="1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curta</a:t>
            </a:r>
            <a:r>
              <a:rPr lang="en-US" sz="1700" b="1" i="0" u="none" strike="noStrike" cap="none" dirty="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 err="1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única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CTeSP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+ Pós-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Graduação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dão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 Portugal um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segmento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profissionalizante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Espanha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só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cobre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Título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 b="0" i="0" u="none" strike="noStrike" cap="none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Propio</a:t>
            </a:r>
            <a:r>
              <a:rPr lang="en-US" sz="13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822960" y="64008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Utilidade estratégica para o Instituto Piaget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68680" y="19202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1737360" y="1965960"/>
            <a:ext cx="969264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 a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concorrência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abragência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oferta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formativa</a:t>
            </a:r>
            <a:endParaRPr dirty="0"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Identificar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onde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oferta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densa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área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região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comunidade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autónoma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— e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onde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há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868680" y="32918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737360" y="3337560"/>
            <a:ext cx="96926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Comparar PT↔ES na mesma escala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Taxonomia única (Licenciatura↔Grado, Mestrado↔Máster, Pós-Graduação↔Título Propio) para leitura direta.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68680" y="46634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737360" y="4709159"/>
            <a:ext cx="9692640" cy="746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Priorizar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prospeção</a:t>
            </a:r>
            <a:endParaRPr dirty="0"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Apostar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formação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curta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pós-graduação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nas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áreas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densas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maior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elasticidade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captação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. E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apostar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áreas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competitivas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e com </a:t>
            </a:r>
            <a:r>
              <a:rPr lang="en-US" sz="14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futuro</a:t>
            </a:r>
            <a:r>
              <a:rPr lang="en-US" sz="14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201" name="Google Shape;201;p21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Base viva, reutilizável e documentada — atualizável quando o RUCT/DGES publicarem novas edições.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</Words>
  <Application>Microsoft Office PowerPoint</Application>
  <PresentationFormat>Ecrã Panorâmico</PresentationFormat>
  <Paragraphs>77</Paragraphs>
  <Slides>9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Pedro Coelho da Costa Ferreira</cp:lastModifiedBy>
  <cp:revision>1</cp:revision>
  <dcterms:modified xsi:type="dcterms:W3CDTF">2026-06-16T09:32:51Z</dcterms:modified>
</cp:coreProperties>
</file>